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44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SecureBank as a Java console-based ATM simulator. Replace team number and student placeholders if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purpose and actual scope of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practical problem and how the simulator models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requirements decomposition and console I/O to CO1.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conditional logic, loops, and menu selection for CO2.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reusable methods and the denomination-selection/backtracking example for CO3.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main domain classes and how services use them for CO4.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JSON file handling and receipt text output for CO5.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collections and transaction-history processing; verify any stream examples against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what works and clearly separate proposed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illustrative mockups, not real application screenshots. Replace them with genuine screenshots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the actual repository URL, a valid QR code, and any required geo-tagged photo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/>
            <a:r>
              <a:rPr sz="3100" b="1" dirty="0" err="1">
                <a:solidFill>
                  <a:srgbClr val="082A52"/>
                </a:solidFill>
                <a:latin typeface="Aptos"/>
              </a:rPr>
              <a:t>SecureBank</a:t>
            </a:r>
            <a:r>
              <a:rPr sz="3100" b="1" dirty="0">
                <a:solidFill>
                  <a:srgbClr val="082A52"/>
                </a:solidFill>
                <a:latin typeface="Aptos"/>
              </a:rPr>
              <a:t> 24/7 ATM Simulator
Team No: 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1600" b="0">
                <a:solidFill>
                  <a:srgbClr val="232F3D"/>
                </a:solidFill>
                <a:latin typeface="Aptos"/>
              </a:rPr>
              <a:t>P Shashe Preetham  |  2520030534
Student Name 2  |  Roll No.
Student Name 3  |  Roll No.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>
                <a:solidFill>
                  <a:srgbClr val="008491"/>
                </a:solidFill>
                <a:latin typeface="Aptos"/>
              </a:rPr>
              <a:t>A secure, object-oriented banking system built with Java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0644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100" b="0">
                <a:solidFill>
                  <a:srgbClr val="5A6777"/>
                </a:solidFill>
                <a:latin typeface="Aptos"/>
              </a:rPr>
              <a:t>Problem Solving Using Programming (Java) • Course 26SC1101E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>
                <a:solidFill>
                  <a:srgbClr val="008491"/>
                </a:solidFill>
                <a:latin typeface="Aptos"/>
              </a:rPr>
              <a:t>PROJECT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400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3474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874519"/>
            <a:ext cx="61447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500" b="1">
                <a:solidFill>
                  <a:srgbClr val="082A52"/>
                </a:solidFill>
                <a:latin typeface="Aptos"/>
              </a:rPr>
              <a:t>Project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31136"/>
            <a:ext cx="6126480" cy="295351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0">
                <a:solidFill>
                  <a:srgbClr val="232F3D"/>
                </a:solidFill>
                <a:latin typeface="Aptos"/>
              </a:rPr>
              <a:t>SecureBank 24/7 ATM Simulator is a Java console application that models common ATM and banking operations. It supports account authentication, balance inquiry, cash withdrawals, deposits, transfers, PIN changes, mini-statements, and text receipts. The project uses object-oriented design, service classes, denomination-aware cash dispensing, and JSON files to retain account and vault data between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783080"/>
            <a:ext cx="3749039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1783080"/>
            <a:ext cx="64008" cy="141732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0104" y="1874519"/>
            <a:ext cx="3493007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>
                <a:solidFill>
                  <a:srgbClr val="082A52"/>
                </a:solidFill>
                <a:latin typeface="Aptos"/>
              </a:rPr>
              <a:t>Core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2231136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200" b="0">
                <a:solidFill>
                  <a:srgbClr val="232F3D"/>
                </a:solidFill>
                <a:latin typeface="Aptos"/>
              </a:rPr>
              <a:t>Java 17 • OOP • JSON persistence
Salted SHA-256 PIN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429000"/>
            <a:ext cx="3749039" cy="1828800"/>
          </a:xfrm>
          <a:prstGeom prst="roundRect">
            <a:avLst/>
          </a:prstGeom>
          <a:solidFill>
            <a:srgbClr val="FCEBE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43800" y="3429000"/>
            <a:ext cx="64008" cy="1828800"/>
          </a:xfrm>
          <a:prstGeom prst="rect">
            <a:avLst/>
          </a:prstGeom>
          <a:solidFill>
            <a:srgbClr val="B9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0104" y="3520440"/>
            <a:ext cx="3493007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>
                <a:solidFill>
                  <a:srgbClr val="082A52"/>
                </a:solidFill>
                <a:latin typeface="Aptos"/>
              </a:rPr>
              <a:t>Project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3877056"/>
            <a:ext cx="3474720" cy="130759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300" b="0">
                <a:solidFill>
                  <a:srgbClr val="232F3D"/>
                </a:solidFill>
                <a:latin typeface="Aptos"/>
              </a:rPr>
              <a:t>Educational console simulator. It does not connect to real banks or operate physical ATM hardware.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300" b="1">
                <a:solidFill>
                  <a:srgbClr val="082A52"/>
                </a:solidFill>
                <a:latin typeface="Aptos"/>
              </a:rPr>
              <a:t>Focus: security-aware transaction logic, persistent records, and maintainable Java structure.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>
                <a:solidFill>
                  <a:srgbClr val="008491"/>
                </a:solidFill>
                <a:latin typeface="Aptos"/>
              </a:rPr>
              <a:t>WHY THIS PROJECT IS USEFUL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3566160"/>
          </a:xfrm>
          <a:prstGeom prst="rect">
            <a:avLst/>
          </a:prstGeom>
          <a:solidFill>
            <a:srgbClr val="B9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874519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500" b="1">
                <a:solidFill>
                  <a:srgbClr val="082A52"/>
                </a:solidFill>
                <a:latin typeface="Aptos"/>
              </a:rPr>
              <a:t>Problem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21991"/>
            <a:ext cx="5047488" cy="30632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Manual transaction handling can create errors and inconsistent records.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ATM withdrawals must obey balance limits and available note inventory.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Repeated incorrect PIN attempts require an account-protection response.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Account and vault data must survive application restarts.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Supervisors need a way to inspect cash and manage locked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64008" cy="356616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874519"/>
            <a:ext cx="481888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500" b="1">
                <a:solidFill>
                  <a:srgbClr val="082A52"/>
                </a:solidFill>
                <a:latin typeface="Aptos"/>
              </a:rP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21991"/>
            <a:ext cx="4910328" cy="30632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Menu-driven customer and supervisor console interfaces.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Centralized ATM and administration services.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Account and transaction models with validation rules.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Cash dispenser that tracks $100, $50, $20, and $10 notes.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JSON persistence plus generated text receipts.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300" b="1">
                <a:solidFill>
                  <a:srgbClr val="082A52"/>
                </a:solidFill>
                <a:latin typeface="Aptos"/>
              </a:rPr>
              <a:t>Goal: demonstrate Java programming concepts through a realistic but simulated banking workflow.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CO1 — From Problem to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>
                <a:solidFill>
                  <a:srgbClr val="008491"/>
                </a:solidFill>
                <a:latin typeface="Aptos"/>
              </a:rPr>
              <a:t>REQUIREMENTS, ALGORITHM DESIGN &amp; INPUT /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572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56616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>
                <a:solidFill>
                  <a:srgbClr val="082A52"/>
                </a:solidFill>
                <a:latin typeface="Aptos"/>
              </a:rPr>
              <a:t>How the project demonstrates CO1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4407408" cy="30632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Identify ATM requirements and define customer/admin roles.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Break the system into authentication, transaction, cash, and storage tasks.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Use console input to select an operation and provide values.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Display balances, validation messages, and transaction outcomes.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Represent the workflow with clear steps before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>
                <a:solidFill>
                  <a:srgbClr val="082A52"/>
                </a:solidFill>
                <a:latin typeface="Aptos"/>
              </a:rPr>
              <a:t>Simplified ATM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331720"/>
            <a:ext cx="1325880" cy="566928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082A52"/>
                </a:solidFill>
                <a:latin typeface="Aptos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331720"/>
            <a:ext cx="1600200" cy="566928"/>
          </a:xfrm>
          <a:prstGeom prst="roundRect">
            <a:avLst/>
          </a:prstGeom>
          <a:solidFill>
            <a:srgbClr val="E0F4F4"/>
          </a:solidFill>
          <a:ln>
            <a:solidFill>
              <a:srgbClr val="E0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082A52"/>
                </a:solidFill>
                <a:latin typeface="Aptos"/>
              </a:rPr>
              <a:t>Enter account
number + PIN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331720"/>
            <a:ext cx="1417320" cy="56692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082A52"/>
                </a:solidFill>
                <a:latin typeface="Aptos"/>
              </a:rPr>
              <a:t>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703320"/>
            <a:ext cx="1600200" cy="566928"/>
          </a:xfrm>
          <a:prstGeom prst="roundRect">
            <a:avLst/>
          </a:prstGeom>
          <a:solidFill>
            <a:srgbClr val="E4F5EA"/>
          </a:solidFill>
          <a:ln>
            <a:solidFill>
              <a:srgbClr val="E4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082A52"/>
                </a:solidFill>
                <a:latin typeface="Aptos"/>
              </a:rPr>
              <a:t>ATM menu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2615184"/>
            <a:ext cx="320040" cy="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2615184"/>
            <a:ext cx="320040" cy="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412480" y="2898648"/>
            <a:ext cx="1737360" cy="804672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715000" y="4572000"/>
            <a:ext cx="530352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0" y="4572000"/>
            <a:ext cx="64008" cy="9144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61304" y="4663440"/>
            <a:ext cx="504748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300" b="1">
                <a:solidFill>
                  <a:srgbClr val="082A52"/>
                </a:solidFill>
                <a:latin typeface="Aptos"/>
              </a:rPr>
              <a:t>Example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1304" y="5020056"/>
            <a:ext cx="5029200" cy="39319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200" b="0">
                <a:solidFill>
                  <a:srgbClr val="232F3D"/>
                </a:solidFill>
                <a:latin typeface="Aptos"/>
              </a:rPr>
              <a:t>Account number • PIN • withdrawal amount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CO2 — Control Flow: Selection &amp;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>
                <a:solidFill>
                  <a:srgbClr val="008491"/>
                </a:solidFill>
                <a:latin typeface="Aptos"/>
              </a:rPr>
              <a:t>CONDITIONS, LOOPS &amp; MENU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846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566160"/>
          </a:xfrm>
          <a:prstGeom prst="rect">
            <a:avLst/>
          </a:prstGeom>
          <a:solidFill>
            <a:srgbClr val="B9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59028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>
                <a:solidFill>
                  <a:srgbClr val="082A52"/>
                </a:solidFill>
                <a:latin typeface="Aptos"/>
              </a:rPr>
              <a:t>Control-flow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4681728" cy="30632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Menu choices direct execution to the selected operation.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Conditional checks validate amounts, balances, and account status.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Loops support repeated transactions until the user exits.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Branching handles successful and unsuccessful authentication.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Validation paths prevent invalid operations from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783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>
                <a:solidFill>
                  <a:srgbClr val="082A52"/>
                </a:solidFill>
                <a:latin typeface="Aptos"/>
              </a:rPr>
              <a:t>Menu selection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240280"/>
            <a:ext cx="5166360" cy="2468880"/>
          </a:xfrm>
          <a:prstGeom prst="round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tlCol="0" anchor="ctr"/>
          <a:lstStyle/>
          <a:p>
            <a:pPr algn="ctr">
              <a:defRPr sz="1300">
                <a:solidFill>
                  <a:srgbClr val="AEE0ED"/>
                </a:solidFill>
                <a:latin typeface="Consolas"/>
              </a:defRPr>
            </a:pPr>
            <a:r>
              <a:t>switch (option) {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  case 1: viewBalance(); break;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  case 2: withdraw();    break;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  case 3: deposit();     break;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  case 4: transfer();    break;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  default: showInvalidOption();</a:t>
            </a:r>
          </a:p>
          <a:p>
            <a:pPr>
              <a:defRPr sz="1300">
                <a:solidFill>
                  <a:srgbClr val="AEE0ED"/>
                </a:solidFill>
                <a:latin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CO3 — Methods, Recursion &amp;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MODULAR METHODS AND CASH-DISPENSER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572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61188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Concepts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4407408" cy="3108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Separate operations into reusable service methods.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Pass values such as account identifiers and withdrawal amounts to methods.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Use arrays/collections to represent denomination inventory where applicable.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Attempt greedy cash selection and use recursive backtracking when needed.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Return success/failure information to guide the next workflow 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830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 i="0">
                <a:solidFill>
                  <a:srgbClr val="082A52"/>
                </a:solidFill>
                <a:latin typeface="Aptos"/>
              </a:rPr>
              <a:t>Cash dispenser example: $280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286000"/>
            <a:ext cx="1188720" cy="420624"/>
          </a:xfrm>
          <a:prstGeom prst="roundRect">
            <a:avLst/>
          </a:prstGeom>
          <a:solidFill>
            <a:srgbClr val="E1EEFA"/>
          </a:solidFill>
          <a:ln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286000"/>
            <a:ext cx="96012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×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286000"/>
            <a:ext cx="1143000" cy="420624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907792"/>
            <a:ext cx="1188720" cy="420624"/>
          </a:xfrm>
          <a:prstGeom prst="roundRect">
            <a:avLst/>
          </a:prstGeom>
          <a:solidFill>
            <a:srgbClr val="E1EEFA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907792"/>
            <a:ext cx="96012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×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907792"/>
            <a:ext cx="1143000" cy="420624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529584"/>
            <a:ext cx="1188720" cy="420624"/>
          </a:xfrm>
          <a:prstGeom prst="roundRect">
            <a:avLst/>
          </a:prstGeom>
          <a:solidFill>
            <a:srgbClr val="E1EEF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529584"/>
            <a:ext cx="96012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×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529584"/>
            <a:ext cx="1143000" cy="420624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4151376"/>
            <a:ext cx="1188720" cy="420624"/>
          </a:xfrm>
          <a:prstGeom prst="roundRect">
            <a:avLst/>
          </a:prstGeom>
          <a:solidFill>
            <a:srgbClr val="E1EEFA"/>
          </a:solidFill>
          <a:ln>
            <a:solidFill>
              <a:srgbClr val="D6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151376"/>
            <a:ext cx="96012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6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×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151376"/>
            <a:ext cx="1143000" cy="420624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$10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743200"/>
            <a:ext cx="1051560" cy="822960"/>
          </a:xfrm>
          <a:prstGeom prst="roundRect">
            <a:avLst/>
          </a:prstGeom>
          <a:solidFill>
            <a:srgbClr val="082A52"/>
          </a:solidFill>
          <a:ln>
            <a:solidFill>
              <a:srgbClr val="08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TOTAL
$280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1206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200" b="1" i="0">
                <a:solidFill>
                  <a:srgbClr val="5A6777"/>
                </a:solidFill>
                <a:latin typeface="Aptos"/>
              </a:rPr>
              <a:t>Available denominations: $100 • $50 • $20 • $10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CO4 — Object-Oriented Modelling &amp;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CLASSES, ENCAPSULATION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657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61188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34015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OOP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3493008" cy="3108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Account holds account-related state and behavior.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Transaction records the type, amount, and transaction details.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CashDispenser manages denomination counts and note selection.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Services separate business rules from console interaction.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Validation and error handling help reject invalid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 i="0">
                <a:solidFill>
                  <a:srgbClr val="082A52"/>
                </a:solidFill>
                <a:latin typeface="Aptos"/>
              </a:rPr>
              <a:t>Conceptual class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8600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1B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082A52"/>
                </a:solidFill>
                <a:latin typeface="Aptos"/>
              </a:rPr>
              <a:t>ATMService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703320"/>
            <a:ext cx="1645920" cy="640080"/>
          </a:xfrm>
          <a:prstGeom prst="roundRect">
            <a:avLst/>
          </a:prstGeom>
          <a:solidFill>
            <a:srgbClr val="E0F4F4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082A52"/>
                </a:solidFill>
                <a:latin typeface="Aptos"/>
              </a:rPr>
              <a:t>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703320"/>
            <a:ext cx="1645920" cy="640080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082A52"/>
                </a:solidFill>
                <a:latin typeface="Aptos"/>
              </a:rPr>
              <a:t>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703320"/>
            <a:ext cx="1645920" cy="640080"/>
          </a:xfrm>
          <a:prstGeom prst="roundRect">
            <a:avLst/>
          </a:prstGeom>
          <a:solidFill>
            <a:srgbClr val="FCF5E2"/>
          </a:solidFill>
          <a:ln>
            <a:solidFill>
              <a:srgbClr val="D6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CashDispenser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669280" y="2926080"/>
            <a:ext cx="1645920" cy="77724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926080"/>
            <a:ext cx="0" cy="77724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12480" y="2926080"/>
            <a:ext cx="1645920" cy="77724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48006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000" b="0" i="1">
                <a:solidFill>
                  <a:srgbClr val="5A6777"/>
                </a:solidFill>
                <a:latin typeface="Aptos"/>
              </a:rPr>
              <a:t>Concept diagram; verify exact constructors, interfaces, and exception paths against source.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CO5 — Strings, Algorithms &amp;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VALIDATION, JSON PERSISTENCE AND RECEIPTS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657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611880"/>
          </a:xfrm>
          <a:prstGeom prst="rect">
            <a:avLst/>
          </a:prstGeom>
          <a:solidFill>
            <a:srgbClr val="B9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34015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Strings and file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3493008" cy="3108960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Validate account input, PIN format, and transaction amounts.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Format transaction messages and receipt text.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Read and write account records in accounts.json.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Read and write cash inventory in vault.json.</a:t>
            </a:r>
          </a:p>
          <a:p>
            <a:pPr>
              <a:spcAft>
                <a:spcPts val="700"/>
              </a:spcAft>
              <a:defRPr sz="1200">
                <a:solidFill>
                  <a:srgbClr val="232F3D"/>
                </a:solidFill>
                <a:latin typeface="Aptos"/>
              </a:defRPr>
            </a:pPr>
            <a:r>
              <a:t>Save generated receipts as .txt files in receipts/.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600" b="1" i="0">
                <a:solidFill>
                  <a:srgbClr val="082A52"/>
                </a:solidFill>
                <a:latin typeface="Aptos"/>
              </a:rPr>
              <a:t>Data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560320"/>
            <a:ext cx="155448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ATM / Admin
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560320"/>
            <a:ext cx="1737360" cy="685800"/>
          </a:xfrm>
          <a:prstGeom prst="roundRect">
            <a:avLst/>
          </a:prstGeom>
          <a:solidFill>
            <a:srgbClr val="E0F4F4"/>
          </a:solidFill>
          <a:ln>
            <a:solidFill>
              <a:srgbClr val="E0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Storage +
JSON utility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1828800" cy="640080"/>
          </a:xfrm>
          <a:prstGeom prst="roundRect">
            <a:avLst/>
          </a:prstGeom>
          <a:solidFill>
            <a:srgbClr val="E4F5EA"/>
          </a:solidFill>
          <a:ln>
            <a:solidFill>
              <a:srgbClr val="208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accounts.json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926080"/>
            <a:ext cx="1828800" cy="640080"/>
          </a:xfrm>
          <a:prstGeom prst="roundRect">
            <a:avLst/>
          </a:prstGeom>
          <a:solidFill>
            <a:srgbClr val="FCEBEC"/>
          </a:solidFill>
          <a:ln>
            <a:solidFill>
              <a:srgbClr val="B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vault.json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886200"/>
            <a:ext cx="1828800" cy="640080"/>
          </a:xfrm>
          <a:prstGeom prst="roundRect">
            <a:avLst/>
          </a:prstGeom>
          <a:solidFill>
            <a:srgbClr val="FCF5E2"/>
          </a:solidFill>
          <a:ln>
            <a:solidFill>
              <a:srgbClr val="D6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82A52"/>
                </a:solidFill>
                <a:latin typeface="Aptos"/>
              </a:rPr>
              <a:t>receipts/*.txt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2898648"/>
            <a:ext cx="457200" cy="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20" y="2286000"/>
            <a:ext cx="502920" cy="45720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3920" y="2926080"/>
            <a:ext cx="502920" cy="32004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03920" y="3154680"/>
            <a:ext cx="502920" cy="1051560"/>
          </a:xfrm>
          <a:prstGeom prst="line">
            <a:avLst/>
          </a:prstGeom>
          <a:ln w="22860">
            <a:solidFill>
              <a:srgbClr val="1B5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54880" y="507492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200" b="0" i="0">
                <a:solidFill>
                  <a:srgbClr val="5A6777"/>
                </a:solidFill>
                <a:latin typeface="Aptos"/>
              </a:rPr>
              <a:t>Persistence keeps simulator state available after restarting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CO6 — Collections &amp; Functional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TRANSACTION RECORDS AND FILTERING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754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56616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How collections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4590288" cy="30632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Store and retrieve transaction history.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Manage registered accounts and account records.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Track cash denomination counts.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Iterate over transaction entries for mini-statements or audit views.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Where implemented, use filtering and sorting operations to process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7830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500" b="1" i="0">
                <a:solidFill>
                  <a:srgbClr val="082A52"/>
                </a:solidFill>
                <a:latin typeface="Aptos"/>
              </a:rPr>
              <a:t>Illustrative transaction-processing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331720"/>
            <a:ext cx="4983480" cy="1828800"/>
          </a:xfrm>
          <a:prstGeom prst="round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400">
                <a:solidFill>
                  <a:srgbClr val="AEE0ED"/>
                </a:solidFill>
                <a:latin typeface="Consolas"/>
              </a:defRPr>
            </a:pPr>
            <a:r>
              <a:t>history.stream()</a:t>
            </a:r>
          </a:p>
          <a:p>
            <a:pPr>
              <a:defRPr sz="1400">
                <a:solidFill>
                  <a:srgbClr val="AEE0ED"/>
                </a:solidFill>
                <a:latin typeface="Consolas"/>
              </a:defRPr>
            </a:pPr>
            <a:r>
              <a:t>  .filter(tx -&gt; isWithdrawal(tx))</a:t>
            </a:r>
          </a:p>
          <a:p>
            <a:pPr>
              <a:defRPr sz="1400">
                <a:solidFill>
                  <a:srgbClr val="AEE0ED"/>
                </a:solidFill>
                <a:latin typeface="Consolas"/>
              </a:defRPr>
            </a:pPr>
            <a:r>
              <a:t>  .sorted(byTimestamp())</a:t>
            </a:r>
          </a:p>
          <a:p>
            <a:pPr>
              <a:defRPr sz="1400">
                <a:solidFill>
                  <a:srgbClr val="AEE0ED"/>
                </a:solidFill>
                <a:latin typeface="Consolas"/>
              </a:defRPr>
            </a:pPr>
            <a:r>
              <a:t>  .forEach(this::display);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48056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000" b="0" i="1">
                <a:solidFill>
                  <a:srgbClr val="5A6777"/>
                </a:solidFill>
                <a:latin typeface="Aptos"/>
              </a:rPr>
              <a:t>Illustrative Java Stream concept. Use only if the actual source includes the corresponding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PROJECT SUMMARY &amp;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0292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" cy="35204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477316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21991"/>
            <a:ext cx="4864608" cy="30175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Implements common ATM transactions in Java.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Uses object-oriented models and service classes.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Includes salted PIN hashing and account lockout behavior.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Tracks note inventory and persists data with JSON files.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Generates transaction records and readable text receipts.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783080"/>
            <a:ext cx="51206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64008" cy="3520440"/>
          </a:xfrm>
          <a:prstGeom prst="rect">
            <a:avLst/>
          </a:prstGeom>
          <a:solidFill>
            <a:srgbClr val="D6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1874519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221991"/>
            <a:ext cx="4956048" cy="30175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54864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Replace the demonstration supervisor PIN with secure configuration.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Use a purpose-built password-hashing algorithm.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Use integer minor units or decimal arithmetic for currency.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Strengthen transaction recovery and concurrency handling.</a:t>
            </a:r>
          </a:p>
          <a:p>
            <a:pPr>
              <a:spcAft>
                <a:spcPts val="700"/>
              </a:spcAft>
              <a:defRPr sz="1300">
                <a:solidFill>
                  <a:srgbClr val="232F3D"/>
                </a:solidFill>
                <a:latin typeface="Aptos"/>
              </a:defRPr>
            </a:pPr>
            <a:r>
              <a:t>Add a graphical interface, database, and expanded security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300" b="1" i="0">
                <a:solidFill>
                  <a:srgbClr val="082A52"/>
                </a:solidFill>
                <a:latin typeface="Aptos"/>
              </a:rPr>
              <a:t>SecureBank demonstrates core programming concepts; it is not a production banking system.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Screen 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CONSOLE INTERFACE — ILLUSTRATIVE MOCKUPS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66360" cy="1600200"/>
          </a:xfrm>
          <a:prstGeom prst="roundRect">
            <a:avLst/>
          </a:prstGeom>
          <a:solidFill>
            <a:srgbClr val="0C1828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100" b="1" i="0">
                <a:solidFill>
                  <a:srgbClr val="5ADCDC"/>
                </a:solidFill>
                <a:latin typeface="Aptos"/>
              </a:rPr>
              <a:t>MAIN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SECUREBANK 24/7 ATM SIMULATOR
1. Balance Inquiry    2. Withdraw
3. Deposit             4. Transfer
5. Mini Statement      6. Change PIN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66360" cy="1600200"/>
          </a:xfrm>
          <a:prstGeom prst="roundRect">
            <a:avLst/>
          </a:prstGeom>
          <a:solidFill>
            <a:srgbClr val="0C1828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856231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100" b="1" i="0">
                <a:solidFill>
                  <a:srgbClr val="5ADCDC"/>
                </a:solidFill>
                <a:latin typeface="Aptos"/>
              </a:rPr>
              <a:t>BALANCE INQUIRY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30552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Account: ********
Account Type: Savings
Available Balance: $2,540.00
Daily Withdrawal Limit: $1,000.00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5166360" cy="1600200"/>
          </a:xfrm>
          <a:prstGeom prst="roundRect">
            <a:avLst/>
          </a:prstGeom>
          <a:solidFill>
            <a:srgbClr val="0C1828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776472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100" b="1" i="0">
                <a:solidFill>
                  <a:srgbClr val="5ADCDC"/>
                </a:solidFill>
                <a:latin typeface="Aptos"/>
              </a:rPr>
              <a:t>CASH DISPENSER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050791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Withdrawal amount: $280
Dispensing notes:
$100 × 2  |  $50 × 1
$20 × 1   |  $10 ×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166360" cy="1600200"/>
          </a:xfrm>
          <a:prstGeom prst="roundRect">
            <a:avLst/>
          </a:prstGeom>
          <a:solidFill>
            <a:srgbClr val="0C1828"/>
          </a:solidFill>
          <a:ln>
            <a:solidFill>
              <a:srgbClr val="008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3776472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100" b="1" i="0">
                <a:solidFill>
                  <a:srgbClr val="5ADCDC"/>
                </a:solidFill>
                <a:latin typeface="Aptos"/>
              </a:rPr>
              <a:t>MINI STATEMENT /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050791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DATE        TYPE          AMOUNT
2026-10-15  Deposit       +$100.00
2026-10-15  Withdrawal    -$40.00
Receipt saved as text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000" b="0" i="1">
                <a:solidFill>
                  <a:srgbClr val="5A6777"/>
                </a:solidFill>
                <a:latin typeface="Aptos"/>
              </a:rPr>
              <a:t>Illustrative UI mockups for presentation purposes, not screenshots captured from a live run.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>
                <a:solidFill>
                  <a:srgbClr val="082A52"/>
                </a:solidFill>
                <a:latin typeface="Aptos"/>
              </a:rPr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r>
              <a:rPr sz="1000" b="0">
                <a:solidFill>
                  <a:srgbClr val="5A6777"/>
                </a:solidFill>
                <a:latin typeface="Aptos"/>
              </a:rPr>
              <a:t>15-10-2026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424160" cy="25603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000" b="1" i="0">
                <a:solidFill>
                  <a:srgbClr val="008491"/>
                </a:solidFill>
                <a:latin typeface="Aptos"/>
              </a:rPr>
              <a:t>PROJECT REPOSITORY &amp; DEMONSTRATION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892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64008" cy="3337560"/>
          </a:xfrm>
          <a:prstGeom prst="rect">
            <a:avLst/>
          </a:prstGeom>
          <a:solidFill>
            <a:srgbClr val="1B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874519"/>
            <a:ext cx="4636007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Repository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31136"/>
            <a:ext cx="4617720" cy="281635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300" b="0" i="0">
                <a:solidFill>
                  <a:srgbClr val="232F3D"/>
                </a:solidFill>
                <a:latin typeface="Aptos"/>
              </a:rPr>
              <a:t>GitHub repository: add your actual repository URL here.
QR code: replace with a QR code that points to the real repository.
Do not submit a placeholder URL or generated QR code as a working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78308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64008" cy="333756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1874519"/>
            <a:ext cx="4818888" cy="310896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400" b="1" i="0">
                <a:solidFill>
                  <a:srgbClr val="082A52"/>
                </a:solidFill>
                <a:latin typeface="Aptos"/>
              </a:rPr>
              <a:t>Geo-tagged 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231136"/>
            <a:ext cx="4800600" cy="2816352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l"/>
            <a:r>
              <a:rPr sz="1300" b="0" i="0">
                <a:solidFill>
                  <a:srgbClr val="232F3D"/>
                </a:solidFill>
                <a:latin typeface="Aptos"/>
              </a:rPr>
              <a:t>Insert a genuine photo of your project demonstration, lab, or institution if required by your instructor.
Only include location metadata if it is appropriate and permitted.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wrap="square" lIns="82296" tIns="53492" rIns="82296" bIns="41148">
            <a:spAutoFit/>
          </a:bodyPr>
          <a:lstStyle/>
          <a:p>
            <a:pPr algn="ctr"/>
            <a:r>
              <a:rPr sz="1300" b="1" i="0">
                <a:solidFill>
                  <a:srgbClr val="082A52"/>
                </a:solidFill>
                <a:latin typeface="Aptos"/>
              </a:rPr>
              <a:t>Project: SecureBank 24/7 ATM Simulator  •  Java 17  •  JSON persistence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1410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SecureBank 24/7 ATM Simulator
Team No: XX</vt:lpstr>
      <vt:lpstr>Abstract</vt:lpstr>
      <vt:lpstr>Understanding Problem Statement</vt:lpstr>
      <vt:lpstr>CO1 — From Problem to Program</vt:lpstr>
      <vt:lpstr>CO2 — Control Flow: Selection &amp; Iteration</vt:lpstr>
      <vt:lpstr>CO3 — Methods, Recursion &amp; Arrays</vt:lpstr>
      <vt:lpstr>CO4 — Object-Oriented Modelling &amp; Exceptions</vt:lpstr>
      <vt:lpstr>CO5 — Strings, Algorithms &amp; File I/O</vt:lpstr>
      <vt:lpstr>CO6 — Collections &amp; Functional Concepts</vt:lpstr>
      <vt:lpstr>Conclusion</vt:lpstr>
      <vt:lpstr>Screen Shots</vt:lpstr>
      <vt:lpstr>Geo Tag Photo and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madurinishanth1420@outlook.com</cp:lastModifiedBy>
  <cp:revision>2</cp:revision>
  <dcterms:created xsi:type="dcterms:W3CDTF">2026-09-15T09:57:10Z</dcterms:created>
  <dcterms:modified xsi:type="dcterms:W3CDTF">2026-10-16T10:02:32Z</dcterms:modified>
</cp:coreProperties>
</file>